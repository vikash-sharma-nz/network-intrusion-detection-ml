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98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229600" y="301752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95360" y="3383280"/>
            <a:ext cx="3474720" cy="3474720"/>
          </a:xfrm>
          <a:prstGeom prst="ellipse">
            <a:avLst/>
          </a:prstGeom>
          <a:solidFill>
            <a:srgbClr val="1F3A5F">
              <a:alpha val="4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434840"/>
            <a:ext cx="1371600" cy="1371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411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·  INDUSTRY-BASED CAPSTONE RESEARCH PROJECT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31520" y="1082040"/>
            <a:ext cx="9052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Classifiers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Intrusion Detection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31520" y="2961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Logistic Regression, Decision Tree and Random Forest, with NIST Cybersecurity Framework Mapping for IT Governance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49808" y="4617720"/>
            <a:ext cx="512064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" y="4800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514600" y="4800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Vikash Sharma  |  270655771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49808" y="51389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514600" y="5138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Business Informatics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49808" y="5477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14600" y="54772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Patricio Galdames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9808" y="58155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514600" y="58155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Yoobee College of Creative Innovation, Christchurch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49808" y="6153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14600" y="61539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Today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17282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4944" y="1709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81965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160020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Gap and Research Question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48640" y="2532888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3232" y="26609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94944" y="26426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75234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253288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 and Adopting Organisation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48640" y="3465576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3232" y="35935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94944" y="35753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68503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20240" y="346557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48640" y="4398264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16"/>
          <p:cNvSpPr/>
          <p:nvPr/>
        </p:nvSpPr>
        <p:spPr>
          <a:xfrm>
            <a:off x="713232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94944" y="4507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46177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920240" y="439826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548640" y="5330952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Text 20"/>
          <p:cNvSpPr/>
          <p:nvPr/>
        </p:nvSpPr>
        <p:spPr>
          <a:xfrm>
            <a:off x="713232" y="5458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694944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50408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920240" y="533095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and Recommended Solution</a:t>
            </a: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6217920" y="160020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6382512" y="17282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6364224" y="1709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819656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89520" y="160020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Cultural and Risk Integration</a:t>
            </a:r>
            <a:endParaRPr lang="en-US" dirty="0"/>
          </a:p>
        </p:txBody>
      </p:sp>
      <p:sp>
        <p:nvSpPr>
          <p:cNvPr id="36" name="Shape 27"/>
          <p:cNvSpPr/>
          <p:nvPr/>
        </p:nvSpPr>
        <p:spPr>
          <a:xfrm>
            <a:off x="6217920" y="2532888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6382512" y="26609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8" name="Text 29"/>
          <p:cNvSpPr/>
          <p:nvPr/>
        </p:nvSpPr>
        <p:spPr>
          <a:xfrm>
            <a:off x="6364224" y="26426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752344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589520" y="253288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Implementation Roadmap</a:t>
            </a:r>
            <a:endParaRPr lang="en-US" dirty="0"/>
          </a:p>
        </p:txBody>
      </p:sp>
      <p:sp>
        <p:nvSpPr>
          <p:cNvPr id="41" name="Shape 31"/>
          <p:cNvSpPr/>
          <p:nvPr/>
        </p:nvSpPr>
        <p:spPr>
          <a:xfrm>
            <a:off x="6217920" y="3465576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42" name="Text 32"/>
          <p:cNvSpPr/>
          <p:nvPr/>
        </p:nvSpPr>
        <p:spPr>
          <a:xfrm>
            <a:off x="6382512" y="35935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43" name="Text 33"/>
          <p:cNvSpPr/>
          <p:nvPr/>
        </p:nvSpPr>
        <p:spPr>
          <a:xfrm>
            <a:off x="6364224" y="35753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3685032"/>
            <a:ext cx="365760" cy="365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589520" y="346557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dirty="0"/>
          </a:p>
        </p:txBody>
      </p:sp>
      <p:sp>
        <p:nvSpPr>
          <p:cNvPr id="46" name="Shape 35"/>
          <p:cNvSpPr/>
          <p:nvPr/>
        </p:nvSpPr>
        <p:spPr>
          <a:xfrm>
            <a:off x="6217920" y="4398264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47" name="Text 36"/>
          <p:cNvSpPr/>
          <p:nvPr/>
        </p:nvSpPr>
        <p:spPr>
          <a:xfrm>
            <a:off x="6382512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E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48" name="Text 37"/>
          <p:cNvSpPr/>
          <p:nvPr/>
        </p:nvSpPr>
        <p:spPr>
          <a:xfrm>
            <a:off x="6364224" y="4507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4617720"/>
            <a:ext cx="365760" cy="36576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589520" y="439826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Questions</a:t>
            </a:r>
            <a:endParaRPr lang="en-US" dirty="0"/>
          </a:p>
        </p:txBody>
      </p:sp>
      <p:sp>
        <p:nvSpPr>
          <p:cNvPr id="51" name="Text 3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Gap and Research Question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5321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993392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on New Zealand organisations are rising, and the Privacy Act 2020 requires fast, accountable breach detection and reporting.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organisations are adopting the NIST Cybersecurity Framework for governance, but lack a way to connect ML detection results directly to it.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481328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1993392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National Cyber Security Centre reported 15% more nationally significant cyber incidents in 2022–23, with network-level attacks a major share.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organisation that cannot detect an intrusion in time cannot meet its breach notification duty or its NIST CSF governance obligations.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9166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CFF3F1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397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42997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published study found under the literature review that runs a systematic 3 × 2 comparison (Logistic Regression, Decision Tree, Random Forest — under imbalanced and SMOTE-balanced conditions) on CICIDS-2017 while also formally mapping results to the NIST Cybersecurity Framework 2.0.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122672"/>
            <a:ext cx="11064240" cy="1450848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822960" y="5212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(REFINED FROM ASSESSMENT 1)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55554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do the three classifiers compare under imbalanced and SMOTE-balanced conditions, by per-class F1 and recall?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Does SMOTE improve minority-class detection consistently across all three classifiers?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How can detection results be mapped to NIST CSF 2.0 to generate actionable governance guidance for NZ IT managers?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Context and Adopting Organisation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969618"/>
            <a:ext cx="221285" cy="2212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ADOPTING ORGANISATION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Zealand medium-sized organisation (financial services, healthcare, or a tertiary institution such as a Christchurch college) running standard corporate network traffic.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open-source Python tooling available, but a small in-house data science team.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uses (or plans to use) the NIST Cybersecurity Framework as its governance reference point.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80760" y="1536192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1923898"/>
            <a:ext cx="221285" cy="221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1847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ORGANISATION NEEDS IT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3317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CISO needs to know which model gives the best trade-off between detection performance and explainability.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align with governance controls already required under the organisation's NIST CSF framework.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80760" y="3840480"/>
            <a:ext cx="5532120" cy="2176272"/>
          </a:xfrm>
          <a:prstGeom prst="roundRect">
            <a:avLst>
              <a:gd name="adj" fmla="val 2521"/>
            </a:avLst>
          </a:prstGeom>
          <a:solidFill>
            <a:srgbClr val="CFF3F1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40965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4237330"/>
            <a:ext cx="221285" cy="2212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FAIR PROXY FOR NEW ZEALAND DATA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55080" y="4645152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 was generated by the Canadian Institute for Cybersecurity, not in New Zealand. As no public, general-purpose NZ intrusion dataset exists, it is used here as a methodological substitute for the traffic an NZ organisation might expect — with this limitation stated openly in the report.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66160" cy="43434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8653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2860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 (Kaggle pre-cleaned version)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20,000-record stratified sample from 2,520,751 rows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numerical features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Attack Type — 7 classes (Normal, DoS, DDoS, Port Scanning, Brute Force, Web Attacks, Bots)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508760"/>
            <a:ext cx="3566160" cy="43434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8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186537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DESIGN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0" y="228600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 (scikit-learn, random_state=42)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 design: each model trained under Imbalanced and SMOTE-balanced conditions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train-test split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training data only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46720" y="1508760"/>
            <a:ext cx="3566160" cy="43434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2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186537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6968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2104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and per-class detail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8321040" y="352044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3210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321040" y="39776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▪"/>
            </a:pPr>
            <a:endParaRPr lang="en-US" sz="112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2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strongest overall result — </a:t>
            </a:r>
            <a:r>
              <a:rPr lang="en-US" sz="1600" b="1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99.52% accuracy and 99.53% F1-score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SMOTE, closely followed by Decision Tree. All three models improved or held steady across both conditions.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68063"/>
              </p:ext>
            </p:extLst>
          </p:nvPr>
        </p:nvGraphicFramePr>
        <p:xfrm>
          <a:off x="548640" y="1920240"/>
          <a:ext cx="11064240" cy="2606037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 2 experimental design: each classifier trained and evaluated under both the Imbalanced (no-SMOTE) and SMOTE-balanced conditions on the same held-out test set (N = 4,000)</a:t>
            </a:r>
            <a:endParaRPr lang="en-US" sz="1100" b="1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CFF3F1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5029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MINORITY-CLASS IMPACT OF SMOTE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528523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Regression's Bots recall rose from 40.67% to 100% with SMOTE - the classifier most sensitive to imbalance.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already handled imbalance well, so their SMOTE gains were smaller and mixed.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80760" y="493776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09360" y="5102352"/>
            <a:ext cx="384048" cy="384048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93" y="5209885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50292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the near-perfect Decision Tree and Random Forest scores may partly reflect known duplicate records in CICIDS-2017 - treated as an upper bound, discussed in Limitations.</a:t>
            </a:r>
            <a:endParaRPr lang="en-US" sz="103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and Recommended Solution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5321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029968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the strongest raw detection performance, but is harder to explain to auditors and regulators.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trails by only 0.37 percentage points in accuracy while remaining fully transparent — a valuable trade-off for governance-sensitive organisations.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 reasonable lightweight baseline (90.67% accuracy) once feature scaling is applied, but is outperformed by both tree-based models.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8653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10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SOLUTION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as the primary detection engine, with Decision Tree retained as an interpretable secondary layer for audit and governance reporting.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4023360"/>
            <a:ext cx="457200" cy="457200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415137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4096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37960" y="4572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uses only free, open-source tools (scikit-learn, imbalanced-learn) and is reproducible with a fixed random seed — practical even for organisations with a small in-house data science team.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Ethical, Cultural and Risk Integration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349240" cy="246180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91640"/>
            <a:ext cx="438912" cy="438912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1814535"/>
            <a:ext cx="193121" cy="1931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ETHICAL POINTS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148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 is synthetic, contains no personal or identifiable data.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ethical tension exists between Random Forest's higher accuracy and the greater interpretability of Decision Tree and Logistic Regression.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80760" y="1481328"/>
            <a:ext cx="5532120" cy="246180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1691640"/>
            <a:ext cx="438912" cy="438912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975" y="1814535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 TIRITI O WAITANGI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1488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— NIST mapping is written for all NZ organisations, including iwi and hapū.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— dashboard and report designed for non-technical, culturally diverse audiences.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— only ethically-sourced, open, non-identifiable data used.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279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3032760" y="4066032"/>
            <a:ext cx="5532120" cy="228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307080" y="4114800"/>
            <a:ext cx="438912" cy="438912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975" y="4237695"/>
            <a:ext cx="193121" cy="1931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01440" y="4187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MITIGATION (NZ AI FRAMEWORK)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307080" y="45720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required for all low-confidence classifications.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scores disclosed as a possible dataset-duplication artefact, not overstated as certain.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kept available for transparent, auditable decisions.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Implementation Roadmap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377440" y="192024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B3261E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19202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Random Forest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25328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primary intrusion detection classifier.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55848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84648" y="192024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/>
        </p:spPr>
      </p:sp>
      <p:sp>
        <p:nvSpPr>
          <p:cNvPr id="14" name="Text 11"/>
          <p:cNvSpPr/>
          <p:nvPr/>
        </p:nvSpPr>
        <p:spPr>
          <a:xfrm>
            <a:off x="5184648" y="19202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2044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Decision Tree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20440" y="25328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interpretable, auditable secondary model.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63056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91856" y="192024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B3261E"/>
          </a:solidFill>
          <a:ln/>
        </p:spPr>
      </p:sp>
      <p:sp>
        <p:nvSpPr>
          <p:cNvPr id="19" name="Text 16"/>
          <p:cNvSpPr/>
          <p:nvPr/>
        </p:nvSpPr>
        <p:spPr>
          <a:xfrm>
            <a:off x="7991856" y="19202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27648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SMOTE in production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27648" y="25328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correct real-world class imbalance.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970264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99064" y="1920240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B3261E"/>
          </a:solidFill>
          <a:ln/>
        </p:spPr>
      </p:sp>
      <p:sp>
        <p:nvSpPr>
          <p:cNvPr id="24" name="Text 21"/>
          <p:cNvSpPr/>
          <p:nvPr/>
        </p:nvSpPr>
        <p:spPr>
          <a:xfrm>
            <a:off x="10799064" y="19202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34856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results to NIST CSF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34856" y="253288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five governance functions.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3840480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3232" y="40050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7"/>
          <p:cNvSpPr/>
          <p:nvPr/>
        </p:nvSpPr>
        <p:spPr>
          <a:xfrm>
            <a:off x="71323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80160" y="4023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13232" y="4590288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pipeline on a larger, more recent sample; confirm no train/test duplication.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355848" y="3840480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0F9FB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520440" y="40050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Text 32"/>
          <p:cNvSpPr/>
          <p:nvPr/>
        </p:nvSpPr>
        <p:spPr>
          <a:xfrm>
            <a:off x="35204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087368" y="4023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520440" y="4590288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dataset validation; review of NIST mapping by a security professional.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63056" y="3840480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27648" y="40050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0" name="Text 37"/>
          <p:cNvSpPr/>
          <p:nvPr/>
        </p:nvSpPr>
        <p:spPr>
          <a:xfrm>
            <a:off x="632764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894576" y="4023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327648" y="4590288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Random Forest with Decision Tree fallback into live monitoring.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970264" y="3840480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0F9FB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9134856" y="40050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5" name="Text 42"/>
          <p:cNvSpPr/>
          <p:nvPr/>
        </p:nvSpPr>
        <p:spPr>
          <a:xfrm>
            <a:off x="9134856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701784" y="4023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134856" y="4590288"/>
            <a:ext cx="2368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human-in-the-loop review, scheduled retraining, fairness audits.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61594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E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67665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5321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438912" cy="438912"/>
          </a:xfrm>
          <a:prstGeom prst="ellipse">
            <a:avLst/>
          </a:prstGeom>
          <a:solidFill>
            <a:srgbClr val="CFF3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1860255"/>
            <a:ext cx="193121" cy="1931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514600"/>
            <a:ext cx="5029200" cy="293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20,000 rows is less than 1% of the full 2.5-million-row dataset.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used default hyperparameters — no tuning was performed.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scores may be partly inflated by duplicate or near-duplicate records in CICIDS-2017.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SMOTE's synthetic samples may not fully represent real attack traffic.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NIST CSF mapping is illustrative and has not been reviewed by a certified security professional.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63640" y="150876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CFF3F1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7373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5" y="1860255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37960" y="2463800"/>
            <a:ext cx="4846320" cy="279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the full dataset and live NZ traffic; check and remove duplicates before splitting.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hyperparameters, especially for Logistic Regression.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an independent cybersecurity and Māori data governance review.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NIST mapping to include the new 'Govern' function in CSF 2.0.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778240" y="-5486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EA5B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819302"/>
            <a:ext cx="281635" cy="2816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30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46304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Questions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F3A5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96112" y="1975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RESEARCH QUESTION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6112" y="224942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(SMOTE-balanced) delivers near-perfect detection across all seven CICIDS-2017 attack classes, closely followed by Decision Tree, while Logistic Regression is competitive only once feature scaling is applied.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0632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F3A5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96112" y="3163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RECOMMENDATION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96112" y="343814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as the primary detector, paired with Decision Tree for auditable governance, guided throughout by the NIST CSF mapping.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F3A5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96112" y="43525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96112" y="462686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systematic 3 × 2 classifier-by-condition comparison on CICIDS-2017 formally linked to a NIST Cybersecurity Framework 2.0 governance mapping for New Zealand organisations.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" y="5623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FF3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and discussion are welcome.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 |  Industry-based Capstone Research Project  |  Vikash Sharma  |  270655771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1534</Words>
  <Application>Microsoft Office PowerPoint</Application>
  <PresentationFormat>Widescreen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Classifiers for Network Intrusion Detection</dc:title>
  <dc:subject>PptxGenJS Presentation</dc:subject>
  <dc:creator>Vikash Sharma</dc:creator>
  <cp:lastModifiedBy>Vikash Sharma</cp:lastModifiedBy>
  <cp:revision>5</cp:revision>
  <dcterms:created xsi:type="dcterms:W3CDTF">2026-07-08T06:17:23Z</dcterms:created>
  <dcterms:modified xsi:type="dcterms:W3CDTF">2026-07-13T01:34:56Z</dcterms:modified>
</cp:coreProperties>
</file>